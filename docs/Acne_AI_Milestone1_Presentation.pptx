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318" r:id="rId2"/>
    <p:sldId id="257" r:id="rId3"/>
    <p:sldId id="258" r:id="rId4"/>
    <p:sldId id="323" r:id="rId5"/>
    <p:sldId id="322" r:id="rId6"/>
    <p:sldId id="321" r:id="rId7"/>
    <p:sldId id="320" r:id="rId8"/>
    <p:sldId id="319" r:id="rId9"/>
    <p:sldId id="324" r:id="rId10"/>
    <p:sldId id="28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98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60D75F-73F6-467C-8B5A-E96364E1170A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3F4ECA-A2DA-4C65-B4BB-80B02CF08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199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3F4ECA-A2DA-4C65-B4BB-80B02CF0864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512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799" y="4343379"/>
            <a:ext cx="5486389" cy="4114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lvl="0" algn="ctr">
              <a:spcBef>
                <a:spcPts val="672"/>
              </a:spcBef>
              <a:spcAft>
                <a:spcPts val="0"/>
              </a:spcAft>
              <a:buClr>
                <a:srgbClr val="888888"/>
              </a:buClr>
              <a:buSzPts val="336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04"/>
              </a:spcBef>
              <a:spcAft>
                <a:spcPts val="0"/>
              </a:spcAft>
              <a:buClr>
                <a:srgbClr val="888888"/>
              </a:buClr>
              <a:buSzPts val="25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1543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0" cy="1362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4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 sz="216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84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36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080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7509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 b="1"/>
            </a:lvl1pPr>
            <a:lvl2pPr marL="914400" lvl="1" indent="-22860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60" b="1"/>
            </a:lvl2pPr>
            <a:lvl3pPr marL="1371600" lvl="2" indent="-22860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 b="1"/>
            </a:lvl3pPr>
            <a:lvl4pPr marL="1828800" lvl="3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4pPr>
            <a:lvl5pPr marL="2286000" lvl="4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5pPr>
            <a:lvl6pPr marL="2743200" lvl="5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6pPr>
            <a:lvl7pPr marL="3200400" lvl="6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7pPr>
            <a:lvl8pPr marL="3657600" lvl="7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8pPr>
            <a:lvl9pPr marL="4114800" lvl="8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8862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1pPr>
            <a:lvl2pPr marL="914400" lvl="1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2pPr>
            <a:lvl3pPr marL="1371600" lvl="2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3pPr>
            <a:lvl4pPr marL="1828800" lvl="3" indent="-33528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–"/>
              <a:defRPr sz="1679"/>
            </a:lvl4pPr>
            <a:lvl5pPr marL="2286000" lvl="4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»"/>
              <a:defRPr sz="1679"/>
            </a:lvl5pPr>
            <a:lvl6pPr marL="2743200" lvl="5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6pPr>
            <a:lvl7pPr marL="3200400" lvl="6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7pPr>
            <a:lvl8pPr marL="3657600" lvl="7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8pPr>
            <a:lvl9pPr marL="4114800" lvl="8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93370" y="1535114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 b="1"/>
            </a:lvl1pPr>
            <a:lvl2pPr marL="914400" lvl="1" indent="-22860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60" b="1"/>
            </a:lvl2pPr>
            <a:lvl3pPr marL="1371600" lvl="2" indent="-22860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 b="1"/>
            </a:lvl3pPr>
            <a:lvl4pPr marL="1828800" lvl="3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4pPr>
            <a:lvl5pPr marL="2286000" lvl="4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5pPr>
            <a:lvl6pPr marL="2743200" lvl="5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6pPr>
            <a:lvl7pPr marL="3200400" lvl="6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7pPr>
            <a:lvl8pPr marL="3657600" lvl="7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8pPr>
            <a:lvl9pPr marL="4114800" lvl="8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93370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8862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1pPr>
            <a:lvl2pPr marL="914400" lvl="1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2pPr>
            <a:lvl3pPr marL="1371600" lvl="2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3pPr>
            <a:lvl4pPr marL="1828800" lvl="3" indent="-33528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–"/>
              <a:defRPr sz="1679"/>
            </a:lvl4pPr>
            <a:lvl5pPr marL="2286000" lvl="4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»"/>
              <a:defRPr sz="1679"/>
            </a:lvl5pPr>
            <a:lvl6pPr marL="2743200" lvl="5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6pPr>
            <a:lvl7pPr marL="3200400" lvl="6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7pPr>
            <a:lvl8pPr marL="3657600" lvl="7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8pPr>
            <a:lvl9pPr marL="4114800" lvl="8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6317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4515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4766736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41960" algn="l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59"/>
            </a:lvl1pPr>
            <a:lvl2pPr marL="914400" lvl="1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marL="1371600" lvl="2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3pPr>
            <a:lvl4pPr marL="1828800" lvl="3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4pPr>
            <a:lvl5pPr marL="2286000" lvl="4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»"/>
              <a:defRPr sz="2160"/>
            </a:lvl5pPr>
            <a:lvl6pPr marL="2743200" lvl="5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6pPr>
            <a:lvl7pPr marL="3200400" lvl="6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7pPr>
            <a:lvl8pPr marL="3657600" lvl="7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8pPr>
            <a:lvl9pPr marL="4114800" lvl="8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3333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9958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833020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8224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285039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697039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021313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 sz="4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marR="0" lvl="0" indent="-441960" algn="l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sz="33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9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8619" algn="l" rtl="0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–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11892019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738305-5802-F5B3-D197-C15B1C8AC5E4}"/>
              </a:ext>
            </a:extLst>
          </p:cNvPr>
          <p:cNvSpPr txBox="1"/>
          <p:nvPr/>
        </p:nvSpPr>
        <p:spPr>
          <a:xfrm>
            <a:off x="669472" y="516190"/>
            <a:ext cx="11381014" cy="6319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Dear Students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Please adhere to the following guidelines for your project presentations: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Presentation Guidelines – </a:t>
            </a: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Milestone 1 Review</a:t>
            </a:r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Slide Limit: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Maximum 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slides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Other than Title Slide (1</a:t>
            </a:r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Slide), Contents Slide (2nd Slide) and Thank you Slide (Last Slide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Slide Structure &amp; Suggested Content in each slide: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Slide 1: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Title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(Project Domain | Project Title | Date |Team Members | Mentor &amp; Domain Head Names] 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[Slide not in the count]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Slide 2: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[List of  the Slides in the PPT in order] 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[Slide not in the count]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Slide 3: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[Brief End user requirement/ Expected Outcome | Abstract/Gist of Problem Statement | Objective(s) (End User Benefit/Solution Impact) | … ]</a:t>
            </a:r>
          </a:p>
          <a:p>
            <a:pPr lvl="1">
              <a:lnSpc>
                <a:spcPct val="150000"/>
              </a:lnSpc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Slide 4: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Requirement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[</a:t>
            </a:r>
            <a:r>
              <a:rPr lang="en-IN" sz="1400" dirty="0">
                <a:solidFill>
                  <a:srgbClr val="000000"/>
                </a:solidFill>
                <a:latin typeface="Arial" panose="020B0604020202020204" pitchFamily="34" charset="0"/>
              </a:rPr>
              <a:t>Abstract |  Features | Use Cases | Functional Requirements | Non-Functional Requirements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| ... ]</a:t>
            </a:r>
          </a:p>
          <a:p>
            <a:pPr lvl="1">
              <a:lnSpc>
                <a:spcPct val="150000"/>
              </a:lnSpc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Slide 5: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[Solution Design | Use Case WF | Architecture Diagram </a:t>
            </a:r>
            <a:r>
              <a:rPr lang="en-IN" sz="1400" dirty="0">
                <a:solidFill>
                  <a:srgbClr val="000000"/>
                </a:solidFill>
                <a:latin typeface="Arial" panose="020B0604020202020204" pitchFamily="34" charset="0"/>
              </a:rPr>
              <a:t>| Mock up Screens | Database Design | Class Design | Technology Stack | … ]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Slide 6: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Development/Implementation: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[Coding Considerations | Any Exceptions | Pseudo Code | Tools used | User Roles &amp; Permissions | Test cases | …]</a:t>
            </a:r>
          </a:p>
          <a:p>
            <a:pPr lvl="1">
              <a:lnSpc>
                <a:spcPct val="150000"/>
              </a:lnSpc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Slide 7: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Project Status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[Phases Completed | Remaining Phases | Target Completion Time| Improvements if any | … ]</a:t>
            </a:r>
          </a:p>
          <a:p>
            <a:pPr lvl="1">
              <a:lnSpc>
                <a:spcPct val="150000"/>
              </a:lnSpc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Slide 8: Learnings so far: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[Solution Demo URL | New Skills Learned | Any Patent or Publication done? | App in Play Store?] </a:t>
            </a:r>
          </a:p>
          <a:p>
            <a:pPr lvl="1">
              <a:lnSpc>
                <a:spcPct val="150000"/>
              </a:lnSpc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Slide 9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Thank you! 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[Slide not in the count]</a:t>
            </a:r>
            <a:endParaRPr 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ctr">
              <a:lnSpc>
                <a:spcPct val="150000"/>
              </a:lnSpc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USE BULLET </a:t>
            </a: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POINTS &amp; DIAGRAMS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IN SLIDES TO EXPLAIN INSTEAD OF LONG TEXTS OR PARAGRAPHS</a:t>
            </a:r>
          </a:p>
          <a:p>
            <a:pPr lvl="1" algn="ctr">
              <a:lnSpc>
                <a:spcPct val="150000"/>
              </a:lnSpc>
            </a:pPr>
            <a:r>
              <a:rPr lang="en-US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Please remove this slide in the final presentation. This slide in not in the count!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4F58E0-2E87-351A-4DA8-5D6AF3B8ACF6}"/>
              </a:ext>
            </a:extLst>
          </p:cNvPr>
          <p:cNvSpPr txBox="1"/>
          <p:nvPr/>
        </p:nvSpPr>
        <p:spPr>
          <a:xfrm>
            <a:off x="882944" y="144685"/>
            <a:ext cx="10426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PPT Guidelines – 1</a:t>
            </a:r>
            <a:r>
              <a:rPr lang="en-IN" sz="20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I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Milestone </a:t>
            </a:r>
            <a:r>
              <a:rPr lang="en-IN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Rview</a:t>
            </a: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805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718187" y="2766004"/>
            <a:ext cx="8755626" cy="164133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sz="2400"/>
              <a:t>KR24_RTRP_II-II_2026</a:t>
            </a:r>
          </a:p>
          <a:p>
            <a:pPr/>
            <a:r>
              <a:rPr sz="2400"/>
              <a:t>1st Milestone Review Project Presentation</a:t>
            </a:r>
          </a:p>
          <a:p>
            <a:pPr/>
            <a:r>
              <a:rPr sz="2400"/>
              <a:t>Project: ACNE AI - AI-Powered Acne Severity Analysis &amp; Recommendation System</a:t>
            </a:r>
          </a:p>
          <a:p>
            <a:pPr/>
            <a:r>
              <a:rPr sz="2400"/>
              <a:t>Date: 27-Mar-2026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6811" y="4456329"/>
            <a:ext cx="4839764" cy="227308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sz="2000"/>
              <a:t>Team Members</a:t>
            </a:r>
          </a:p>
          <a:p>
            <a:pPr lvl="1"/>
            <a:r>
              <a:rPr sz="2000"/>
              <a:t>Update with Name 1 - Roll No.</a:t>
            </a:r>
          </a:p>
          <a:p>
            <a:pPr lvl="1"/>
            <a:r>
              <a:rPr sz="2000"/>
              <a:t>Update with Name 2 - Roll No.</a:t>
            </a:r>
          </a:p>
          <a:p>
            <a:pPr lvl="1"/>
            <a:r>
              <a:rPr sz="2000"/>
              <a:t>Update with Name 3 - Roll No.</a:t>
            </a:r>
          </a:p>
          <a:p>
            <a:pPr lvl="1"/>
            <a:r>
              <a:rPr sz="2000"/>
              <a:t>Update with Name 4 - Roll No.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51CFB20-BF85-80BD-477B-14C7A76949D5}"/>
              </a:ext>
            </a:extLst>
          </p:cNvPr>
          <p:cNvSpPr txBox="1">
            <a:spLocks/>
          </p:cNvSpPr>
          <p:nvPr/>
        </p:nvSpPr>
        <p:spPr>
          <a:xfrm>
            <a:off x="7028383" y="4456330"/>
            <a:ext cx="4610100" cy="227308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sz="2000"/>
              <a:t>Mentor &amp; Domain Head</a:t>
            </a:r>
          </a:p>
          <a:p>
            <a:pPr lvl="1"/>
            <a:r>
              <a:rPr sz="2000"/>
              <a:t>Mentor: Update mentor name</a:t>
            </a:r>
          </a:p>
          <a:p>
            <a:pPr lvl="1"/>
            <a:r>
              <a:rPr sz="2000"/>
              <a:t>Domain Head: Update domain head name</a:t>
            </a:r>
          </a:p>
        </p:txBody>
      </p:sp>
    </p:spTree>
    <p:extLst>
      <p:ext uri="{BB962C8B-B14F-4D97-AF65-F5344CB8AC3E}">
        <p14:creationId xmlns:p14="http://schemas.microsoft.com/office/powerpoint/2010/main" val="1922055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C3F8B0-6282-99B1-93A0-C4F705D327DE}"/>
              </a:ext>
            </a:extLst>
          </p:cNvPr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/>
              <a:t>CONTENTS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65CB75-C0BF-49CC-2D4C-6D5FB9214585}"/>
              </a:ext>
            </a:extLst>
          </p:cNvPr>
          <p:cNvSpPr txBox="1"/>
          <p:nvPr/>
        </p:nvSpPr>
        <p:spPr>
          <a:xfrm>
            <a:off x="962965" y="845951"/>
            <a:ext cx="10266067" cy="5009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sz="2400"/>
              <a:t>Title Slide</a:t>
            </a:r>
          </a:p>
          <a:p>
            <a:pPr/>
            <a:r>
              <a:rPr sz="2400"/>
              <a:t>Introduction</a:t>
            </a:r>
          </a:p>
          <a:p>
            <a:pPr/>
            <a:r>
              <a:rPr sz="2400"/>
              <a:t>Requirement</a:t>
            </a:r>
          </a:p>
          <a:p>
            <a:pPr/>
            <a:r>
              <a:rPr sz="2400"/>
              <a:t>Design</a:t>
            </a:r>
          </a:p>
          <a:p>
            <a:pPr/>
            <a:r>
              <a:rPr sz="2400"/>
              <a:t>Development / Implementation</a:t>
            </a:r>
          </a:p>
          <a:p>
            <a:pPr/>
            <a:r>
              <a:rPr sz="2400"/>
              <a:t>Project Status</a:t>
            </a:r>
          </a:p>
          <a:p>
            <a:pPr/>
            <a:r>
              <a:rPr sz="2400"/>
              <a:t>Learnings</a:t>
            </a:r>
          </a:p>
          <a:p>
            <a:pPr/>
            <a:r>
              <a:rPr sz="24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23661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D12A0-BF48-2BD5-0527-690BC375E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B52095-1E06-92A6-8BED-8F94FD56D16C}"/>
              </a:ext>
            </a:extLst>
          </p:cNvPr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sz="3400"/>
              <a:t>INTRODUCTION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FAFB47-235B-5172-F5FE-317016BE1FA5}"/>
              </a:ext>
            </a:extLst>
          </p:cNvPr>
          <p:cNvSpPr txBox="1"/>
          <p:nvPr/>
        </p:nvSpPr>
        <p:spPr>
          <a:xfrm>
            <a:off x="962965" y="845951"/>
            <a:ext cx="10266067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900"/>
              <a:t>Problem: Users struggle to assess acne severity objectively and choose the right treatment routine.</a:t>
            </a:r>
          </a:p>
          <a:p>
            <a:pPr/>
            <a:r>
              <a:rPr sz="1900"/>
              <a:t>Solution: ACNE AI analyzes face images and predicts acne severity (Mild / Moderate / Severe).</a:t>
            </a:r>
          </a:p>
          <a:p>
            <a:pPr/>
            <a:r>
              <a:rPr sz="1900"/>
              <a:t>Output: Personalized skincare recommendations and care timeline based on severity.</a:t>
            </a:r>
          </a:p>
          <a:p>
            <a:pPr/>
            <a:r>
              <a:rPr sz="1900"/>
              <a:t>Goal: Improve early awareness and guide users before dermatology consultation.</a:t>
            </a:r>
          </a:p>
          <a:p>
            <a:pPr/>
            <a:r>
              <a:rPr sz="1900"/>
              <a:t>Scope (Milestone-1): Core AI pipeline + web app workflow + baseline deployment setup.</a:t>
            </a:r>
          </a:p>
        </p:txBody>
      </p:sp>
    </p:spTree>
    <p:extLst>
      <p:ext uri="{BB962C8B-B14F-4D97-AF65-F5344CB8AC3E}">
        <p14:creationId xmlns:p14="http://schemas.microsoft.com/office/powerpoint/2010/main" val="119972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01D33-2B83-9A0C-A740-5B3B2C407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2C1023-E687-BA37-AA43-E14E164EC872}"/>
              </a:ext>
            </a:extLst>
          </p:cNvPr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sz="3400"/>
              <a:t>REQUIREMENT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D830ED-44EF-C7F9-4825-04BEA9595FFE}"/>
              </a:ext>
            </a:extLst>
          </p:cNvPr>
          <p:cNvSpPr txBox="1"/>
          <p:nvPr/>
        </p:nvSpPr>
        <p:spPr>
          <a:xfrm>
            <a:off x="962965" y="845951"/>
            <a:ext cx="10266067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700"/>
              <a:t>Functional Requirements</a:t>
            </a:r>
          </a:p>
          <a:p>
            <a:pPr lvl="1"/>
            <a:r>
              <a:rPr sz="1700"/>
              <a:t>Image upload / camera capture and face validation</a:t>
            </a:r>
          </a:p>
          <a:p>
            <a:pPr lvl="1"/>
            <a:r>
              <a:rPr sz="1700"/>
              <a:t>Severity prediction and confidence score generation</a:t>
            </a:r>
          </a:p>
          <a:p>
            <a:pPr lvl="1"/>
            <a:r>
              <a:rPr sz="1700"/>
              <a:t>Treatment recommendation based on severity + skin profile</a:t>
            </a:r>
          </a:p>
          <a:p>
            <a:pPr lvl="1"/>
            <a:r>
              <a:rPr sz="1700"/>
              <a:t>History tracking and clear-history privacy option</a:t>
            </a:r>
          </a:p>
          <a:p>
            <a:pPr/>
            <a:r>
              <a:rPr sz="1700"/>
              <a:t>Non-Functional Requirements</a:t>
            </a:r>
          </a:p>
          <a:p>
            <a:pPr lvl="1"/>
            <a:r>
              <a:rPr sz="1700"/>
              <a:t>Fast inference response, usability on desktop/mobile, and reliability</a:t>
            </a:r>
          </a:p>
          <a:p>
            <a:pPr lvl="1"/>
            <a:r>
              <a:rPr sz="1700"/>
              <a:t>Privacy-first processing and local history management</a:t>
            </a:r>
          </a:p>
          <a:p>
            <a:pPr/>
            <a:r>
              <a:rPr sz="1700"/>
              <a:t>Technology Requirements</a:t>
            </a:r>
          </a:p>
          <a:p>
            <a:pPr lvl="1"/>
            <a:r>
              <a:rPr sz="1700"/>
              <a:t>Frontend: Next.js + TypeScript + Tailwind + Framer Motion</a:t>
            </a:r>
          </a:p>
          <a:p>
            <a:pPr lvl="1"/>
            <a:r>
              <a:rPr sz="1700"/>
              <a:t>Backend: Flask + Keras/PyTorch + OpenCV + MediaPipe + YOLOv8</a:t>
            </a:r>
          </a:p>
        </p:txBody>
      </p:sp>
    </p:spTree>
    <p:extLst>
      <p:ext uri="{BB962C8B-B14F-4D97-AF65-F5344CB8AC3E}">
        <p14:creationId xmlns:p14="http://schemas.microsoft.com/office/powerpoint/2010/main" val="2040637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B9F80-F453-A0C9-DB74-A74C76ED3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DF1F71-E7CA-1E78-DFFE-0CE48650C176}"/>
              </a:ext>
            </a:extLst>
          </p:cNvPr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400"/>
              <a:t>DESIGN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D46C55-BAB0-C00A-DDAE-4AA2D5E701A5}"/>
              </a:ext>
            </a:extLst>
          </p:cNvPr>
          <p:cNvSpPr txBox="1"/>
          <p:nvPr/>
        </p:nvSpPr>
        <p:spPr>
          <a:xfrm>
            <a:off x="962965" y="845951"/>
            <a:ext cx="10266067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700"/>
              <a:t>System Architecture</a:t>
            </a:r>
          </a:p>
          <a:p>
            <a:pPr lvl="1"/>
            <a:r>
              <a:rPr sz="1700"/>
              <a:t>User UI (Next.js) -&gt; API Layer (Flask) -&gt; ML Inference Pipeline</a:t>
            </a:r>
          </a:p>
          <a:p>
            <a:pPr lvl="1"/>
            <a:r>
              <a:rPr sz="1700"/>
              <a:t>Face detection (MediaPipe) -&gt; preprocessing -&gt; severity classification</a:t>
            </a:r>
          </a:p>
          <a:p>
            <a:pPr lvl="1"/>
            <a:r>
              <a:rPr sz="1700"/>
              <a:t>Recommendation engine maps predicted severity to treatment guidance</a:t>
            </a:r>
          </a:p>
          <a:p>
            <a:pPr/>
            <a:r>
              <a:rPr sz="1700"/>
              <a:t>Model Design</a:t>
            </a:r>
          </a:p>
          <a:p>
            <a:pPr lvl="1"/>
            <a:r>
              <a:rPr sz="1700"/>
              <a:t>Classifier: EfficientNetB3 transfer learning for 3-class severity prediction</a:t>
            </a:r>
          </a:p>
          <a:p>
            <a:pPr lvl="1"/>
            <a:r>
              <a:rPr sz="1700"/>
              <a:t>Detector: YOLOv8 component for acne spot/region support</a:t>
            </a:r>
          </a:p>
          <a:p>
            <a:pPr/>
            <a:r>
              <a:rPr sz="1700"/>
              <a:t>Data Design</a:t>
            </a:r>
          </a:p>
          <a:p>
            <a:pPr lvl="1"/>
            <a:r>
              <a:rPr sz="1700"/>
              <a:t>Train / Validation / Test split with augmentation and class balancing</a:t>
            </a:r>
          </a:p>
        </p:txBody>
      </p:sp>
    </p:spTree>
    <p:extLst>
      <p:ext uri="{BB962C8B-B14F-4D97-AF65-F5344CB8AC3E}">
        <p14:creationId xmlns:p14="http://schemas.microsoft.com/office/powerpoint/2010/main" val="356244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57B49-7958-0BE3-B6FF-B55F51CC0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67CFC9-623F-33E6-06BA-2AE3FEC5A3CE}"/>
              </a:ext>
            </a:extLst>
          </p:cNvPr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000"/>
              <a:t>DEVELOPMENT / IMPLEMENTATION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3908F0-8B71-8411-23F0-802D1DC84E21}"/>
              </a:ext>
            </a:extLst>
          </p:cNvPr>
          <p:cNvSpPr txBox="1"/>
          <p:nvPr/>
        </p:nvSpPr>
        <p:spPr>
          <a:xfrm>
            <a:off x="962965" y="845951"/>
            <a:ext cx="10266067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/>
              <a:t>Implemented Modules</a:t>
            </a:r>
          </a:p>
          <a:p>
            <a:pPr lvl="1"/>
            <a:r>
              <a:rPr sz="1600"/>
              <a:t>Frontend pages: landing, analyze, quiz, history, treatments, login</a:t>
            </a:r>
          </a:p>
          <a:p>
            <a:pPr lvl="1"/>
            <a:r>
              <a:rPr sz="1600"/>
              <a:t>Backend APIs for prediction pipeline and recommendation response</a:t>
            </a:r>
          </a:p>
          <a:p>
            <a:pPr lvl="1"/>
            <a:r>
              <a:rPr sz="1600"/>
              <a:t>Training scripts for classifier, detector, and severity tuning</a:t>
            </a:r>
          </a:p>
          <a:p>
            <a:pPr lvl="1"/>
            <a:r>
              <a:rPr sz="1600"/>
              <a:t>Evaluation scripts and export utilities for deployment-ready models</a:t>
            </a:r>
          </a:p>
          <a:p>
            <a:pPr/>
            <a:r>
              <a:rPr sz="1600"/>
              <a:t>Current Stack</a:t>
            </a:r>
          </a:p>
          <a:p>
            <a:pPr lvl="1"/>
            <a:r>
              <a:rPr sz="1600"/>
              <a:t>Next.js 14+, React, TypeScript, Tailwind, Framer Motion</a:t>
            </a:r>
          </a:p>
          <a:p>
            <a:pPr lvl="1"/>
            <a:r>
              <a:rPr sz="1600"/>
              <a:t>Python, Flask, Keras 3 (PyTorch backend), OpenCV, MediaPipe, Ultralytics</a:t>
            </a:r>
          </a:p>
          <a:p>
            <a:pPr/>
            <a:r>
              <a:rPr sz="1600"/>
              <a:t>Deployment Readiness</a:t>
            </a:r>
          </a:p>
          <a:p>
            <a:pPr lvl="1"/>
            <a:r>
              <a:rPr sz="1600"/>
              <a:t>Dockerfile, Docker Compose, Render config, and model download scripts prepared</a:t>
            </a:r>
          </a:p>
        </p:txBody>
      </p:sp>
    </p:spTree>
    <p:extLst>
      <p:ext uri="{BB962C8B-B14F-4D97-AF65-F5344CB8AC3E}">
        <p14:creationId xmlns:p14="http://schemas.microsoft.com/office/powerpoint/2010/main" val="2950516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5A60F-8639-EADD-081C-DABFA82D6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AF2B25-5DBC-2D18-F438-3E22A904864A}"/>
              </a:ext>
            </a:extLst>
          </p:cNvPr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400"/>
              <a:t>PROJECT STATUS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13940E-46E6-40AE-D40B-0278B604695A}"/>
              </a:ext>
            </a:extLst>
          </p:cNvPr>
          <p:cNvSpPr txBox="1"/>
          <p:nvPr/>
        </p:nvSpPr>
        <p:spPr>
          <a:xfrm>
            <a:off x="962965" y="845951"/>
            <a:ext cx="10266067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700"/>
              <a:t>Milestone-1 Progress Snapshot</a:t>
            </a:r>
          </a:p>
          <a:p>
            <a:pPr lvl="1"/>
            <a:r>
              <a:rPr sz="1700"/>
              <a:t>Project structure, frontend flow, and backend inference pipeline completed</a:t>
            </a:r>
          </a:p>
          <a:p>
            <a:pPr lvl="1"/>
            <a:r>
              <a:rPr sz="1700"/>
              <a:t>Model training and evaluation pipeline integrated</a:t>
            </a:r>
          </a:p>
          <a:p>
            <a:pPr lvl="1"/>
            <a:r>
              <a:rPr sz="1700"/>
              <a:t>Recommendation and severity mapping logic implemented</a:t>
            </a:r>
          </a:p>
          <a:p>
            <a:pPr lvl="1"/>
            <a:r>
              <a:rPr sz="1700"/>
              <a:t>Containerization and deployment configuration prepared</a:t>
            </a:r>
          </a:p>
          <a:p>
            <a:pPr/>
            <a:r>
              <a:rPr sz="1700"/>
              <a:t>In Progress</a:t>
            </a:r>
          </a:p>
          <a:p>
            <a:pPr lvl="1"/>
            <a:r>
              <a:rPr sz="1700"/>
              <a:t>Fine-tuning model accuracy and threshold calibration</a:t>
            </a:r>
          </a:p>
          <a:p>
            <a:pPr lvl="1"/>
            <a:r>
              <a:rPr sz="1700"/>
              <a:t>Expanded testing with additional real-world image conditions</a:t>
            </a:r>
          </a:p>
          <a:p>
            <a:pPr/>
            <a:r>
              <a:rPr sz="1700"/>
              <a:t>Next Milestone Targets</a:t>
            </a:r>
          </a:p>
          <a:p>
            <a:pPr lvl="1"/>
            <a:r>
              <a:rPr sz="1700"/>
              <a:t>Improve robustness, finalize deployment, and complete full validation report</a:t>
            </a:r>
          </a:p>
        </p:txBody>
      </p:sp>
    </p:spTree>
    <p:extLst>
      <p:ext uri="{BB962C8B-B14F-4D97-AF65-F5344CB8AC3E}">
        <p14:creationId xmlns:p14="http://schemas.microsoft.com/office/powerpoint/2010/main" val="3637397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81280-C949-031A-6FDE-067206D26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52FD9E-27D6-1D00-9DC3-ECE1FC7A5D0D}"/>
              </a:ext>
            </a:extLst>
          </p:cNvPr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400"/>
              <a:t>LEARNINGS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4C84FF-E795-E669-D7A2-E8F984B1FA05}"/>
              </a:ext>
            </a:extLst>
          </p:cNvPr>
          <p:cNvSpPr txBox="1"/>
          <p:nvPr/>
        </p:nvSpPr>
        <p:spPr>
          <a:xfrm>
            <a:off x="962965" y="845951"/>
            <a:ext cx="10266067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700"/>
              <a:t>Technical Learnings</a:t>
            </a:r>
          </a:p>
          <a:p>
            <a:pPr lvl="1"/>
            <a:r>
              <a:rPr sz="1700"/>
              <a:t>Built end-to-end ML workflow from data preparation to web deployment</a:t>
            </a:r>
          </a:p>
          <a:p>
            <a:pPr lvl="1"/>
            <a:r>
              <a:rPr sz="1700"/>
              <a:t>Applied transfer learning and augmentation for practical medical-image classification</a:t>
            </a:r>
          </a:p>
          <a:p>
            <a:pPr lvl="1"/>
            <a:r>
              <a:rPr sz="1700"/>
              <a:t>Integrated computer vision validation to improve input quality</a:t>
            </a:r>
          </a:p>
          <a:p>
            <a:pPr/>
            <a:r>
              <a:rPr sz="1700"/>
              <a:t>Project Learnings</a:t>
            </a:r>
          </a:p>
          <a:p>
            <a:pPr lvl="1"/>
            <a:r>
              <a:rPr sz="1700"/>
              <a:t>Balanced model performance with real-time UX requirements</a:t>
            </a:r>
          </a:p>
          <a:p>
            <a:pPr lvl="1"/>
            <a:r>
              <a:rPr sz="1700"/>
              <a:t>Improved teamwork through modular repository structure and clear task ownership</a:t>
            </a:r>
          </a:p>
          <a:p>
            <a:pPr lvl="1"/>
            <a:r>
              <a:rPr sz="1700"/>
              <a:t>Learned to package AI applications with Docker for reproducible deployment</a:t>
            </a:r>
          </a:p>
        </p:txBody>
      </p:sp>
    </p:spTree>
    <p:extLst>
      <p:ext uri="{BB962C8B-B14F-4D97-AF65-F5344CB8AC3E}">
        <p14:creationId xmlns:p14="http://schemas.microsoft.com/office/powerpoint/2010/main" val="1146543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8E8147-357D-7FED-7729-847B9FCECC3E}"/>
              </a:ext>
            </a:extLst>
          </p:cNvPr>
          <p:cNvSpPr txBox="1"/>
          <p:nvPr/>
        </p:nvSpPr>
        <p:spPr>
          <a:xfrm>
            <a:off x="4635910" y="2721114"/>
            <a:ext cx="29201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47897800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</TotalTime>
  <Words>456</Words>
  <Application>Microsoft Office PowerPoint</Application>
  <PresentationFormat>Widescreen</PresentationFormat>
  <Paragraphs>54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Asha Sheldon</dc:creator>
  <cp:lastModifiedBy>Stravis2 </cp:lastModifiedBy>
  <cp:revision>27</cp:revision>
  <dcterms:created xsi:type="dcterms:W3CDTF">2024-06-11T09:24:19Z</dcterms:created>
  <dcterms:modified xsi:type="dcterms:W3CDTF">2026-03-23T07:03:49Z</dcterms:modified>
</cp:coreProperties>
</file>